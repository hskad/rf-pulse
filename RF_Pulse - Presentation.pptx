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Inter" panose="020B0604020202020204" charset="0"/>
      <p:bold r:id="rId6"/>
      <p:boldItalic r:id="rId7"/>
    </p:embeddedFont>
    <p:embeddedFont>
      <p:font typeface="Inter SemiBold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2730edc27f4c6007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2730edc27f4c6007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2730edc27f4c6007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2730edc27f4c6007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2730edc27f4c6007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2730edc27f4c6007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h2730edc27f4c6007_6_0)">
  <p:cSld name="Generated (h2730edc27f4c6007_6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28600" y="228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60000" y="120000"/>
                </a:lnTo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solidFill>
            <a:srgbClr val="000000">
              <a:alpha val="0"/>
            </a:srgb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8763000" y="228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60000" y="120000"/>
                </a:lnTo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solidFill>
            <a:srgbClr val="000000">
              <a:alpha val="0"/>
            </a:srgb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228600" y="4762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60000" y="120000"/>
                </a:lnTo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solidFill>
            <a:srgbClr val="000000">
              <a:alpha val="0"/>
            </a:srgb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8763000" y="4762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60000" y="120000"/>
                </a:lnTo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solidFill>
            <a:srgbClr val="000000">
              <a:alpha val="0"/>
            </a:srgb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oogle Shape;59;p14"/>
          <p:cNvGrpSpPr/>
          <p:nvPr/>
        </p:nvGrpSpPr>
        <p:grpSpPr>
          <a:xfrm>
            <a:off x="457200" y="350334"/>
            <a:ext cx="8229750" cy="1078566"/>
            <a:chOff x="0" y="7434"/>
            <a:chExt cx="8229750" cy="1078566"/>
          </a:xfrm>
        </p:grpSpPr>
        <p:sp>
          <p:nvSpPr>
            <p:cNvPr id="60" name="Google Shape;60;p14"/>
            <p:cNvSpPr/>
            <p:nvPr/>
          </p:nvSpPr>
          <p:spPr>
            <a:xfrm>
              <a:off x="0" y="19050"/>
              <a:ext cx="95400" cy="954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171450" y="7434"/>
              <a:ext cx="8058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lang="en" sz="900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GRANICA × IIT GUWAHATI </a:t>
              </a:r>
              <a:r>
                <a:rPr lang="en" sz="900" b="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					                          </a:t>
              </a:r>
              <a:r>
                <a:rPr lang="en" sz="900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</a:t>
              </a:r>
              <a:r>
                <a:rPr lang="en" sz="900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PRESENTER: DAKSH AGARWAL</a:t>
              </a:r>
              <a:endParaRPr sz="90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0" y="228600"/>
              <a:ext cx="8229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The Invisible Wall: Why Campus Wi-Fi Fails Inside Student Rooms</a:t>
              </a:r>
              <a:endParaRPr sz="26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457200" y="1524000"/>
            <a:ext cx="2638500" cy="3143400"/>
            <a:chOff x="0" y="0"/>
            <a:chExt cx="2638500" cy="3143400"/>
          </a:xfrm>
        </p:grpSpPr>
        <p:sp>
          <p:nvSpPr>
            <p:cNvPr id="64" name="Google Shape;64;p14"/>
            <p:cNvSpPr/>
            <p:nvPr/>
          </p:nvSpPr>
          <p:spPr>
            <a:xfrm>
              <a:off x="0" y="0"/>
              <a:ext cx="2638500" cy="3143400"/>
            </a:xfrm>
            <a:prstGeom prst="roundRect">
              <a:avLst>
                <a:gd name="adj" fmla="val 21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228600" y="228600"/>
              <a:ext cx="21813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USER</a:t>
              </a:r>
              <a:endParaRPr sz="900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Campus IT &amp; Hostel LAN Committee</a:t>
              </a:r>
              <a:endParaRPr sz="150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7,000+</a:t>
              </a:r>
              <a:endParaRPr sz="36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75569"/>
                  </a:solidFill>
                  <a:highlight>
                    <a:srgbClr val="F8FAFC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STUDENT RESIDENTS</a:t>
              </a:r>
              <a:endParaRPr sz="900" b="0">
                <a:solidFill>
                  <a:srgbClr val="475569"/>
                </a:solidFill>
                <a:highlight>
                  <a:srgbClr val="F8FAFC"/>
                </a:highlight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750"/>
                </a:spcAft>
                <a:buNone/>
              </a:pPr>
              <a:r>
                <a:rPr lang="en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Responsible for maintaining continuous network operations and wireless coverage across sprawling student hostels and common campus spaces.</a:t>
              </a:r>
              <a:endParaRPr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3248025" y="1524000"/>
            <a:ext cx="2638500" cy="3143400"/>
            <a:chOff x="0" y="0"/>
            <a:chExt cx="2638500" cy="3143400"/>
          </a:xfrm>
        </p:grpSpPr>
        <p:sp>
          <p:nvSpPr>
            <p:cNvPr id="67" name="Google Shape;67;p14"/>
            <p:cNvSpPr/>
            <p:nvPr/>
          </p:nvSpPr>
          <p:spPr>
            <a:xfrm>
              <a:off x="0" y="0"/>
              <a:ext cx="2638500" cy="3143400"/>
            </a:xfrm>
            <a:prstGeom prst="roundRect">
              <a:avLst>
                <a:gd name="adj" fmla="val 21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228600" y="228600"/>
              <a:ext cx="21813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PROBLEM</a:t>
              </a:r>
              <a:endParaRPr sz="765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275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Hallway Optics vs. Room Reality</a:t>
              </a:r>
              <a:endParaRPr sz="1275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35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Central IT monitors routers positioned in central hallways, showing healthy traffic and optimal signal levels.</a:t>
              </a:r>
              <a:endParaRPr sz="935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5274" algn="l" rtl="0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893"/>
                <a:buFont typeface="Inter"/>
                <a:buChar char="●"/>
              </a:pPr>
              <a:r>
                <a:rPr lang="en" sz="893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Physical Barriers:</a:t>
              </a:r>
              <a:r>
                <a:rPr lang="en" sz="89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Concrete walls and solid doors absorb radio waves heavily.</a:t>
              </a:r>
              <a:endParaRPr sz="89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5274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893"/>
                <a:buFont typeface="Inter"/>
                <a:buChar char="●"/>
              </a:pPr>
              <a:r>
                <a:rPr lang="en" sz="893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User Impact:</a:t>
              </a:r>
              <a:r>
                <a:rPr lang="en" sz="89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Frozen video calls and UPI payment timeouts (e.g., in the Canteen).</a:t>
              </a:r>
              <a:endParaRPr sz="89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5274" algn="l" rtl="0">
                <a:spcBef>
                  <a:spcPts val="600"/>
                </a:spcBef>
                <a:spcAft>
                  <a:spcPts val="600"/>
                </a:spcAft>
                <a:buClr>
                  <a:srgbClr val="475569"/>
                </a:buClr>
                <a:buSzPts val="893"/>
                <a:buFont typeface="Inter"/>
                <a:buChar char="●"/>
              </a:pPr>
              <a:r>
                <a:rPr lang="en" sz="893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Visibility Gap:</a:t>
              </a:r>
              <a:r>
                <a:rPr lang="en" sz="89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Central IT lacks telemetry on actual RF absorption inside rooms.</a:t>
              </a:r>
              <a:endParaRPr sz="89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6038850" y="1524000"/>
            <a:ext cx="2638500" cy="3143400"/>
            <a:chOff x="0" y="0"/>
            <a:chExt cx="2638500" cy="3143400"/>
          </a:xfrm>
        </p:grpSpPr>
        <p:sp>
          <p:nvSpPr>
            <p:cNvPr id="70" name="Google Shape;70;p14"/>
            <p:cNvSpPr/>
            <p:nvPr/>
          </p:nvSpPr>
          <p:spPr>
            <a:xfrm>
              <a:off x="0" y="0"/>
              <a:ext cx="2638500" cy="3143400"/>
            </a:xfrm>
            <a:prstGeom prst="roundRect">
              <a:avLst>
                <a:gd name="adj" fmla="val 2166"/>
              </a:avLst>
            </a:prstGeom>
            <a:solidFill>
              <a:srgbClr val="FFFFFF"/>
            </a:solidFill>
            <a:ln w="14300" cap="flat" cmpd="sng">
              <a:solidFill>
                <a:srgbClr val="D9770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0" y="0"/>
              <a:ext cx="2638500" cy="381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228600" y="228600"/>
              <a:ext cx="21813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CORE QUESTION</a:t>
              </a:r>
              <a:endParaRPr/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Diagnosing the Physical Layer</a:t>
              </a:r>
              <a:endParaRPr sz="150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92400E"/>
                  </a:solidFill>
                  <a:highlight>
                    <a:srgbClr val="FFFBEB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1. Signal Attenuation</a:t>
              </a:r>
              <a:endParaRPr sz="1100" b="0">
                <a:solidFill>
                  <a:srgbClr val="92400E"/>
                </a:solidFill>
                <a:highlight>
                  <a:srgbClr val="FFFBEB"/>
                </a:highlight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B45309"/>
                  </a:solidFill>
                  <a:highlight>
                    <a:srgbClr val="FFFBEB"/>
                  </a:highlight>
                  <a:latin typeface="Inter"/>
                  <a:ea typeface="Inter"/>
                  <a:cs typeface="Inter"/>
                  <a:sym typeface="Inter"/>
                </a:rPr>
                <a:t>How much Wi-Fi signal do structural barriers actually absorb?</a:t>
              </a:r>
              <a:endParaRPr sz="1000" b="0">
                <a:solidFill>
                  <a:srgbClr val="B45309"/>
                </a:solidFill>
                <a:highlight>
                  <a:srgbClr val="FFFBEB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92400E"/>
                  </a:solidFill>
                  <a:highlight>
                    <a:srgbClr val="FFFBEB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2. Automated Remediation</a:t>
              </a:r>
              <a:endParaRPr sz="1100" b="0">
                <a:solidFill>
                  <a:srgbClr val="92400E"/>
                </a:solidFill>
                <a:highlight>
                  <a:srgbClr val="FFFBEB"/>
                </a:highlight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750"/>
                </a:spcAft>
                <a:buNone/>
              </a:pPr>
              <a:r>
                <a:rPr lang="en" sz="1000" b="0">
                  <a:solidFill>
                    <a:srgbClr val="B45309"/>
                  </a:solidFill>
                  <a:highlight>
                    <a:srgbClr val="FFFBEB"/>
                  </a:highlight>
                  <a:latin typeface="Inter"/>
                  <a:ea typeface="Inter"/>
                  <a:cs typeface="Inter"/>
                  <a:sym typeface="Inter"/>
                </a:rPr>
                <a:t>How can ordinary client devices help IT automatically locate &amp; fix physical deadzones?</a:t>
              </a:r>
              <a:endParaRPr sz="1000" b="0">
                <a:solidFill>
                  <a:srgbClr val="B45309"/>
                </a:solidFill>
                <a:highlight>
                  <a:srgbClr val="FFFBEB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228600" y="228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60000" y="120000"/>
                </a:lnTo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solidFill>
            <a:srgbClr val="000000">
              <a:alpha val="0"/>
            </a:srgb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8763000" y="228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60000" y="120000"/>
                </a:lnTo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solidFill>
            <a:srgbClr val="000000">
              <a:alpha val="0"/>
            </a:srgb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228600" y="4762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60000" y="120000"/>
                </a:lnTo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solidFill>
            <a:srgbClr val="000000">
              <a:alpha val="0"/>
            </a:srgb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8763000" y="4762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60000" y="120000"/>
                </a:lnTo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solidFill>
            <a:srgbClr val="000000">
              <a:alpha val="0"/>
            </a:srgb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457200" y="62865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5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METHODOLOGY &amp; SYSTEM ARCHITECTURE</a:t>
            </a:r>
            <a:endParaRPr sz="2405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00"/>
              </a:spcBef>
              <a:spcAft>
                <a:spcPts val="600"/>
              </a:spcAft>
              <a:buNone/>
            </a:pPr>
            <a:r>
              <a:rPr lang="en" sz="971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End-to-end telemetry pipeline, passive client probing, and physics-informed wave regression.</a:t>
            </a:r>
            <a:endParaRPr sz="971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6" name="Google Shape;86;p15"/>
          <p:cNvGrpSpPr/>
          <p:nvPr/>
        </p:nvGrpSpPr>
        <p:grpSpPr>
          <a:xfrm>
            <a:off x="457200" y="1333500"/>
            <a:ext cx="2638500" cy="3352800"/>
            <a:chOff x="0" y="0"/>
            <a:chExt cx="2638500" cy="3352800"/>
          </a:xfrm>
        </p:grpSpPr>
        <p:sp>
          <p:nvSpPr>
            <p:cNvPr id="87" name="Google Shape;87;p15"/>
            <p:cNvSpPr/>
            <p:nvPr/>
          </p:nvSpPr>
          <p:spPr>
            <a:xfrm>
              <a:off x="0" y="0"/>
              <a:ext cx="2638500" cy="3352800"/>
            </a:xfrm>
            <a:prstGeom prst="roundRect">
              <a:avLst>
                <a:gd name="adj" fmla="val 144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190500" y="190500"/>
              <a:ext cx="2257500" cy="29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 b="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PIPELINE</a:t>
              </a:r>
              <a:endParaRPr sz="765" b="0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90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Workflow</a:t>
              </a:r>
              <a:endParaRPr sz="119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93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1. Signal Propagation</a:t>
              </a:r>
              <a:endParaRPr sz="893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114300" marR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9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Radio waves strike physical barriers.</a:t>
              </a:r>
              <a:endParaRPr sz="89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893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2. Passive Probing</a:t>
              </a:r>
              <a:endParaRPr sz="893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114300" marR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9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Client smartphones passively probe beacon frames.</a:t>
              </a:r>
              <a:endParaRPr sz="89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893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3. Telemetry Ingestion</a:t>
              </a:r>
              <a:endParaRPr sz="893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114300" marR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9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Scans saved directly to Apache Parquet dataset.</a:t>
              </a:r>
              <a:endParaRPr sz="89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893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4. Physics Regression</a:t>
              </a:r>
              <a:endParaRPr sz="893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114300" marR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9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Model isolates exact barrier absorption.</a:t>
              </a:r>
              <a:endParaRPr sz="89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893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5. Actionable Alerting</a:t>
              </a:r>
              <a:endParaRPr sz="893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114300" marR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9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Generates automated IT support tickets.</a:t>
              </a:r>
              <a:endParaRPr sz="89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3248025" y="1333500"/>
            <a:ext cx="2638500" cy="3352800"/>
            <a:chOff x="0" y="0"/>
            <a:chExt cx="2638500" cy="3352800"/>
          </a:xfrm>
        </p:grpSpPr>
        <p:sp>
          <p:nvSpPr>
            <p:cNvPr id="90" name="Google Shape;90;p15"/>
            <p:cNvSpPr/>
            <p:nvPr/>
          </p:nvSpPr>
          <p:spPr>
            <a:xfrm>
              <a:off x="0" y="0"/>
              <a:ext cx="2638500" cy="3352800"/>
            </a:xfrm>
            <a:prstGeom prst="roundRect">
              <a:avLst>
                <a:gd name="adj" fmla="val 144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190500" y="190500"/>
              <a:ext cx="2257500" cy="2971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 i="0" u="none" strike="noStrike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EDGE PROBING</a:t>
              </a:r>
              <a:endParaRPr sz="900" b="0" i="0" u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400" b="0" i="0" u="none" strike="noStrike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 Collection</a:t>
              </a:r>
              <a:endParaRPr sz="900" b="0" i="0" u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50" b="0" i="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Used Open-Source </a:t>
              </a:r>
              <a:r>
                <a:rPr lang="en" sz="1050" b="0" i="1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WiFi Analyzer</a:t>
              </a:r>
              <a:r>
                <a:rPr lang="en" sz="1050" b="0" i="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on commodity smartphones to capture raw 802.11 beacons, link rates and ping RTT.</a:t>
              </a:r>
              <a:endParaRPr lang="en-US" sz="900" b="0" i="0" u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120 On-Site Scans</a:t>
              </a:r>
              <a:endParaRPr lang="en-US" sz="900" b="0" i="0" u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050" b="0" i="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Surveyed across 8 distinct campus environments with 240 ITU-R calibrated extensions.</a:t>
              </a:r>
              <a:endParaRPr sz="900" b="0" i="0" u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00" b="0" i="0" u="none" strike="noStrike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HOSTEL ROOM METRIC</a:t>
              </a:r>
              <a:endParaRPr sz="900" b="0" i="0" u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 b="0" i="0" u="none" strike="noStrike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Door Open:</a:t>
              </a:r>
              <a:r>
                <a:rPr lang="en" sz="1050" b="0" i="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144 Mbps</a:t>
              </a:r>
              <a:endParaRPr sz="900" b="0" i="0" u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450"/>
                </a:spcAft>
                <a:buNone/>
              </a:pPr>
              <a:r>
                <a:rPr lang="en" sz="1050" b="0" i="0" u="none" strike="noStrike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Door Closed:</a:t>
              </a:r>
              <a:r>
                <a:rPr lang="en" sz="1050" b="0" i="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58 Mbps</a:t>
              </a:r>
              <a:endParaRPr sz="900" b="0" i="0" u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92" name="Google Shape;92;p15"/>
          <p:cNvGrpSpPr/>
          <p:nvPr/>
        </p:nvGrpSpPr>
        <p:grpSpPr>
          <a:xfrm>
            <a:off x="6038850" y="1333500"/>
            <a:ext cx="2638500" cy="3352800"/>
            <a:chOff x="0" y="0"/>
            <a:chExt cx="2638500" cy="3352800"/>
          </a:xfrm>
        </p:grpSpPr>
        <p:sp>
          <p:nvSpPr>
            <p:cNvPr id="93" name="Google Shape;93;p15"/>
            <p:cNvSpPr/>
            <p:nvPr/>
          </p:nvSpPr>
          <p:spPr>
            <a:xfrm>
              <a:off x="0" y="0"/>
              <a:ext cx="2638500" cy="3352800"/>
            </a:xfrm>
            <a:prstGeom prst="roundRect">
              <a:avLst>
                <a:gd name="adj" fmla="val 144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190500" y="190500"/>
              <a:ext cx="2257500" cy="29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MODEL FITTING</a:t>
              </a:r>
              <a:endParaRPr sz="900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RF-Pulse Solution</a:t>
              </a:r>
              <a:endParaRPr sz="140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Ridge regression fitted on log-distance wave propagation.</a:t>
              </a:r>
              <a:endParaRPr sz="10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3200" b="1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R² = 0.935</a:t>
              </a:r>
              <a:endParaRPr sz="3200" b="1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MODEL ACCURACY</a:t>
              </a:r>
              <a:endParaRPr sz="900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Learned Physics Constants:</a:t>
              </a:r>
              <a:endParaRPr sz="105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Waveguiding (Hallway):</a:t>
              </a:r>
              <a:r>
                <a:rPr lang="en" sz="10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n = 1.84</a:t>
              </a:r>
              <a:endParaRPr sz="10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Door Attenuation:</a:t>
              </a:r>
              <a:r>
                <a:rPr lang="en" sz="10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+12.8 dBm</a:t>
              </a:r>
              <a:endParaRPr sz="10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Wall Attenuation:</a:t>
              </a:r>
              <a:r>
                <a:rPr lang="en" sz="10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+4.4 dBm</a:t>
              </a:r>
              <a:endParaRPr sz="10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50" b="0" i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Integrated with multi-surface tooling for continuous campus-wide calibration.</a:t>
              </a:r>
              <a:endParaRPr sz="950" b="0" i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" name="Google Shape;60;p14">
            <a:extLst>
              <a:ext uri="{FF2B5EF4-FFF2-40B4-BE49-F238E27FC236}">
                <a16:creationId xmlns:a16="http://schemas.microsoft.com/office/drawing/2014/main" id="{DB4297F4-A6CD-3669-1FEE-17FCE6218772}"/>
              </a:ext>
            </a:extLst>
          </p:cNvPr>
          <p:cNvSpPr/>
          <p:nvPr/>
        </p:nvSpPr>
        <p:spPr>
          <a:xfrm>
            <a:off x="457200" y="361950"/>
            <a:ext cx="95400" cy="9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7F06C3B1-90E8-CA3E-DBA4-FBB20E9615B8}"/>
              </a:ext>
            </a:extLst>
          </p:cNvPr>
          <p:cNvSpPr txBox="1"/>
          <p:nvPr/>
        </p:nvSpPr>
        <p:spPr>
          <a:xfrm>
            <a:off x="628650" y="350334"/>
            <a:ext cx="8058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50"/>
              </a:spcAft>
              <a:buNone/>
            </a:pPr>
            <a:r>
              <a:rPr lang="en" sz="90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GRANICA × IIT GUWAHATI </a:t>
            </a:r>
            <a:r>
              <a:rPr lang="en" sz="900" b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					</a:t>
            </a:r>
            <a:endParaRPr sz="900" b="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228600" y="228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60000" y="120000"/>
                </a:lnTo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solidFill>
            <a:srgbClr val="000000">
              <a:alpha val="0"/>
            </a:srgb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8763000" y="228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60000" y="120000"/>
                </a:lnTo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solidFill>
            <a:srgbClr val="000000">
              <a:alpha val="0"/>
            </a:srgb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228600" y="4762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60000" y="120000"/>
                </a:lnTo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solidFill>
            <a:srgbClr val="000000">
              <a:alpha val="0"/>
            </a:srgb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8763000" y="4762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60000" y="120000"/>
                </a:lnTo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solidFill>
            <a:srgbClr val="000000">
              <a:alpha val="0"/>
            </a:srgb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457200" y="592872"/>
            <a:ext cx="8229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RESULTS &amp; OPERATIONAL ACTION</a:t>
            </a:r>
            <a:endParaRPr sz="22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7" name="Google Shape;107;p16"/>
          <p:cNvGrpSpPr/>
          <p:nvPr/>
        </p:nvGrpSpPr>
        <p:grpSpPr>
          <a:xfrm>
            <a:off x="457200" y="1047750"/>
            <a:ext cx="2638500" cy="1428900"/>
            <a:chOff x="0" y="0"/>
            <a:chExt cx="2638500" cy="1428900"/>
          </a:xfrm>
        </p:grpSpPr>
        <p:sp>
          <p:nvSpPr>
            <p:cNvPr id="108" name="Google Shape;108;p16"/>
            <p:cNvSpPr/>
            <p:nvPr/>
          </p:nvSpPr>
          <p:spPr>
            <a:xfrm>
              <a:off x="0" y="0"/>
              <a:ext cx="2638500" cy="1428900"/>
            </a:xfrm>
            <a:prstGeom prst="roundRect">
              <a:avLst>
                <a:gd name="adj" fmla="val 2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190500" y="152400"/>
              <a:ext cx="22575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+12.8 dBm</a:t>
              </a:r>
              <a:endParaRPr sz="3200" b="1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DOOR LOSS FINDING</a:t>
              </a:r>
              <a:endParaRPr sz="900" b="0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Closing a hostel door cuts signal power by &gt;90%, causing a 59.7% speed drop (144 to 58 Mbps).</a:t>
              </a:r>
              <a:endParaRPr sz="9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3248025" y="1047750"/>
            <a:ext cx="2638500" cy="1428900"/>
            <a:chOff x="0" y="0"/>
            <a:chExt cx="2638500" cy="1428900"/>
          </a:xfrm>
        </p:grpSpPr>
        <p:sp>
          <p:nvSpPr>
            <p:cNvPr id="111" name="Google Shape;111;p16"/>
            <p:cNvSpPr/>
            <p:nvPr/>
          </p:nvSpPr>
          <p:spPr>
            <a:xfrm>
              <a:off x="0" y="0"/>
              <a:ext cx="2638500" cy="1428900"/>
            </a:xfrm>
            <a:prstGeom prst="roundRect">
              <a:avLst>
                <a:gd name="adj" fmla="val 2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190500" y="152400"/>
              <a:ext cx="22575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94m</a:t>
              </a:r>
              <a:endParaRPr sz="3200" b="1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CANTEEN DEADZONE</a:t>
              </a:r>
              <a:endParaRPr sz="900" b="0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Severe path-loss (-87.3 dBm) explains daily UPI payment failures across campus.</a:t>
              </a:r>
              <a:endParaRPr sz="9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6038850" y="1047750"/>
            <a:ext cx="2638500" cy="1428900"/>
            <a:chOff x="0" y="0"/>
            <a:chExt cx="2638500" cy="1428900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2638500" cy="1428900"/>
            </a:xfrm>
            <a:prstGeom prst="roundRect">
              <a:avLst>
                <a:gd name="adj" fmla="val 2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190500" y="152400"/>
              <a:ext cx="22575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0.935</a:t>
              </a:r>
              <a:endParaRPr sz="32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R² MODEL ACCURACY</a:t>
              </a:r>
              <a:endParaRPr sz="900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Log-distance physics model explains 93.5% of campus-wide signal variance.</a:t>
              </a:r>
              <a:endParaRPr sz="9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6" name="Google Shape;116;p16"/>
          <p:cNvGrpSpPr/>
          <p:nvPr/>
        </p:nvGrpSpPr>
        <p:grpSpPr>
          <a:xfrm>
            <a:off x="457200" y="2628900"/>
            <a:ext cx="4114800" cy="1184817"/>
            <a:chOff x="0" y="0"/>
            <a:chExt cx="4038600" cy="2057400"/>
          </a:xfrm>
        </p:grpSpPr>
        <p:sp>
          <p:nvSpPr>
            <p:cNvPr id="117" name="Google Shape;117;p16"/>
            <p:cNvSpPr/>
            <p:nvPr/>
          </p:nvSpPr>
          <p:spPr>
            <a:xfrm>
              <a:off x="0" y="0"/>
              <a:ext cx="4038600" cy="2057400"/>
            </a:xfrm>
            <a:prstGeom prst="roundRect">
              <a:avLst>
                <a:gd name="adj" fmla="val 185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0" y="0"/>
              <a:ext cx="38100" cy="20574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228599" y="190500"/>
              <a:ext cx="3729739" cy="16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ACTIONABLE IT IMPACT</a:t>
              </a:r>
              <a:endParaRPr sz="900" b="0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Generates automated remediation directives:</a:t>
              </a:r>
              <a:endParaRPr sz="90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•"/>
              </a:pPr>
              <a:r>
                <a:rPr lang="en" sz="8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Relocating corridor Access Points by 1.8m for optimal coverage.</a:t>
              </a:r>
              <a:endParaRPr sz="8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•"/>
              </a:pPr>
              <a:r>
                <a:rPr lang="en" sz="8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Installing a dedicated Canteen Access Point to resolve path-loss.</a:t>
              </a:r>
              <a:endParaRPr sz="8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•"/>
              </a:pPr>
              <a:r>
                <a:rPr lang="en" sz="8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Overriding roaming thresholds to -72 dBm.</a:t>
              </a:r>
              <a:endParaRPr sz="8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4648200" y="2628900"/>
            <a:ext cx="4038600" cy="2057401"/>
            <a:chOff x="0" y="0"/>
            <a:chExt cx="4038600" cy="2057400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4038600" cy="2057400"/>
            </a:xfrm>
            <a:prstGeom prst="roundRect">
              <a:avLst>
                <a:gd name="adj" fmla="val 185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228600" y="190500"/>
              <a:ext cx="3581400" cy="16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ARTIFACTS &amp; LINKS</a:t>
              </a:r>
              <a:endParaRPr sz="900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Live System &amp; Source Code Access</a:t>
              </a:r>
              <a:endParaRPr sz="110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DASHBOARD</a:t>
              </a:r>
              <a:endParaRPr sz="800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Local System Dashboard (via python –m web.server)</a:t>
              </a:r>
              <a:endParaRPr sz="10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REPOSITORY</a:t>
              </a:r>
              <a:endParaRPr sz="800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>
                <a:spcBef>
                  <a:spcPts val="150"/>
                </a:spcBef>
              </a:pPr>
              <a:r>
                <a:rPr lang="en-IN" sz="1000">
                  <a:solidFill>
                    <a:srgbClr val="D97706"/>
                  </a:solidFill>
                  <a:latin typeface="Inter SemiBold"/>
                  <a:ea typeface="Inter SemiBold"/>
                </a:rPr>
                <a:t>https://github.com/hskad/rf-pulse</a:t>
              </a:r>
              <a:endParaRPr sz="1000">
                <a:solidFill>
                  <a:srgbClr val="D97706"/>
                </a:solidFill>
                <a:latin typeface="Inter SemiBold"/>
                <a:ea typeface="Inter SemiBold"/>
                <a:sym typeface="Inter"/>
              </a:endParaRPr>
            </a:p>
          </p:txBody>
        </p:sp>
      </p:grpSp>
      <p:sp>
        <p:nvSpPr>
          <p:cNvPr id="3" name="Google Shape;60;p14">
            <a:extLst>
              <a:ext uri="{FF2B5EF4-FFF2-40B4-BE49-F238E27FC236}">
                <a16:creationId xmlns:a16="http://schemas.microsoft.com/office/drawing/2014/main" id="{312BA0AE-1B2B-E31A-CFCD-04E7A2844763}"/>
              </a:ext>
            </a:extLst>
          </p:cNvPr>
          <p:cNvSpPr/>
          <p:nvPr/>
        </p:nvSpPr>
        <p:spPr>
          <a:xfrm>
            <a:off x="457200" y="361950"/>
            <a:ext cx="95400" cy="9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FD266213-BA63-8A89-D037-36F9E9AE0C37}"/>
              </a:ext>
            </a:extLst>
          </p:cNvPr>
          <p:cNvSpPr txBox="1"/>
          <p:nvPr/>
        </p:nvSpPr>
        <p:spPr>
          <a:xfrm>
            <a:off x="628650" y="350334"/>
            <a:ext cx="8058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50"/>
              </a:spcAft>
              <a:buNone/>
            </a:pPr>
            <a:r>
              <a:rPr lang="en" sz="90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GRANICA × IIT GUWAHATI </a:t>
            </a:r>
            <a:r>
              <a:rPr lang="en" sz="900" b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				</a:t>
            </a:r>
            <a:endParaRPr sz="900" b="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8" name="Google Shape;116;p16">
            <a:extLst>
              <a:ext uri="{FF2B5EF4-FFF2-40B4-BE49-F238E27FC236}">
                <a16:creationId xmlns:a16="http://schemas.microsoft.com/office/drawing/2014/main" id="{25FAC83F-1DD8-AA0E-EB89-E5D0045364EE}"/>
              </a:ext>
            </a:extLst>
          </p:cNvPr>
          <p:cNvGrpSpPr/>
          <p:nvPr/>
        </p:nvGrpSpPr>
        <p:grpSpPr>
          <a:xfrm>
            <a:off x="452475" y="3865293"/>
            <a:ext cx="4114800" cy="821008"/>
            <a:chOff x="0" y="0"/>
            <a:chExt cx="4038600" cy="2057400"/>
          </a:xfrm>
        </p:grpSpPr>
        <p:sp>
          <p:nvSpPr>
            <p:cNvPr id="9" name="Google Shape;117;p16">
              <a:extLst>
                <a:ext uri="{FF2B5EF4-FFF2-40B4-BE49-F238E27FC236}">
                  <a16:creationId xmlns:a16="http://schemas.microsoft.com/office/drawing/2014/main" id="{AF19AAA0-15DC-8C94-5F93-042661DF8F67}"/>
                </a:ext>
              </a:extLst>
            </p:cNvPr>
            <p:cNvSpPr/>
            <p:nvPr/>
          </p:nvSpPr>
          <p:spPr>
            <a:xfrm>
              <a:off x="0" y="0"/>
              <a:ext cx="4038600" cy="2057400"/>
            </a:xfrm>
            <a:prstGeom prst="roundRect">
              <a:avLst>
                <a:gd name="adj" fmla="val 185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8;p16">
              <a:extLst>
                <a:ext uri="{FF2B5EF4-FFF2-40B4-BE49-F238E27FC236}">
                  <a16:creationId xmlns:a16="http://schemas.microsoft.com/office/drawing/2014/main" id="{CFA4BA16-E573-2AA8-EEF9-9EA135E95E58}"/>
                </a:ext>
              </a:extLst>
            </p:cNvPr>
            <p:cNvSpPr/>
            <p:nvPr/>
          </p:nvSpPr>
          <p:spPr>
            <a:xfrm>
              <a:off x="0" y="0"/>
              <a:ext cx="38100" cy="20574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9;p16">
              <a:extLst>
                <a:ext uri="{FF2B5EF4-FFF2-40B4-BE49-F238E27FC236}">
                  <a16:creationId xmlns:a16="http://schemas.microsoft.com/office/drawing/2014/main" id="{8AB35C12-4804-DABA-C27D-BA79F4F17C4F}"/>
                </a:ext>
              </a:extLst>
            </p:cNvPr>
            <p:cNvSpPr txBox="1"/>
            <p:nvPr/>
          </p:nvSpPr>
          <p:spPr>
            <a:xfrm>
              <a:off x="228599" y="190499"/>
              <a:ext cx="3729739" cy="1676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97706"/>
                  </a:solidFill>
                  <a:latin typeface="Inter SemiBold"/>
                  <a:ea typeface="Inter SemiBold"/>
                  <a:cs typeface="Inter"/>
                  <a:sym typeface="Inter SemiBold"/>
                </a:rPr>
                <a:t>SCALING UP</a:t>
              </a:r>
              <a:endParaRPr lang="en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7500">
                <a:spcBef>
                  <a:spcPts val="450"/>
                </a:spcBef>
                <a:buSzPts val="1400"/>
                <a:buFont typeface="Arial" panose="020B0604020202020204" pitchFamily="34" charset="0"/>
                <a:buChar char="•"/>
              </a:pPr>
              <a:r>
                <a:rPr lang="en-IN" sz="800">
                  <a:solidFill>
                    <a:srgbClr val="475569"/>
                  </a:solidFill>
                  <a:latin typeface="Inter"/>
                  <a:ea typeface="Inter"/>
                </a:rPr>
                <a:t>Put into student apps to detect deadzones in the background.</a:t>
              </a:r>
            </a:p>
            <a:p>
              <a:pPr marL="457200" lvl="0" indent="-317500">
                <a:spcBef>
                  <a:spcPts val="450"/>
                </a:spcBef>
                <a:buSzPts val="1400"/>
                <a:buFont typeface="Arial" panose="020B0604020202020204" pitchFamily="34" charset="0"/>
                <a:buChar char="•"/>
              </a:pPr>
              <a:r>
                <a:rPr lang="en-IN" sz="800">
                  <a:solidFill>
                    <a:srgbClr val="475569"/>
                  </a:solidFill>
                  <a:latin typeface="Inter"/>
                  <a:ea typeface="Inter"/>
                  <a:sym typeface="Inter SemiBold"/>
                </a:rPr>
                <a:t>Let campus Wi-Fi routers adjust its own power and channels automatically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518</Words>
  <Application>Microsoft Office PowerPoint</Application>
  <PresentationFormat>On-screen Show (16:9)</PresentationFormat>
  <Paragraphs>77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Inter SemiBold</vt:lpstr>
      <vt:lpstr>Arial</vt:lpstr>
      <vt:lpstr>Inter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Daksh Agarwal</cp:lastModifiedBy>
  <cp:revision>9</cp:revision>
  <dcterms:modified xsi:type="dcterms:W3CDTF">2026-09-27T08:51:52Z</dcterms:modified>
</cp:coreProperties>
</file>